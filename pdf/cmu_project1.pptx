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Roboto"/>
      <p:regular r:id="rId18"/>
      <p:bold r:id="rId19"/>
      <p:italic r:id="rId20"/>
      <p:boldItalic r:id="rId21"/>
    </p:embeddedFont>
    <p:embeddedFont>
      <p:font typeface="Mate SC"/>
      <p:regular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DE156A-A7F2-4D14-8200-28285E97B4E8}">
  <a:tblStyle styleId="{F9DE156A-A7F2-4D14-8200-28285E97B4E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5.xml"/><Relationship Id="rId22" Type="http://schemas.openxmlformats.org/officeDocument/2006/relationships/font" Target="fonts/MateSC-regular.fntdata"/><Relationship Id="rId10" Type="http://schemas.openxmlformats.org/officeDocument/2006/relationships/slide" Target="slides/slide4.xml"/><Relationship Id="rId21" Type="http://schemas.openxmlformats.org/officeDocument/2006/relationships/font" Target="fonts/Robot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oboto-bold.fntdata"/><Relationship Id="rId6" Type="http://schemas.openxmlformats.org/officeDocument/2006/relationships/notesMaster" Target="notesMasters/notesMaster1.xml"/><Relationship Id="rId18"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8f88884c4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8f88884c4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solidFill>
                  <a:srgbClr val="595959"/>
                </a:solidFill>
              </a:rPr>
              <a:t>We used an NHL shots database for our project. The data contains information on NHL shot attempts, with the dataset containing 124 variables. Additionally, this database has over 122,000 data entries. The dataset contains information about the result of the shot, how long and how many players were on the ice at the time of the shot, the location, distance, angle and type of the shot, and information about the event previous to the shot.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e594cc1110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e594cc1110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e594cc1110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e594cc1110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8f88884c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8f88884c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595959"/>
                </a:solidFill>
              </a:rPr>
              <a:t>In the NHL when a player commits a penalty they taken off the ice for two minutes and their team has to play with less men on the ice. From our background knowledge of hockey we knew that it is easier to score goals on a powerplay. However, we wondered why this is the case. Is this because offensive shooting efficiency increases during these periods as players are possibly able to more open looks, or is it because with less defenders it is easier for the offense to retain possession, so they are able to get more shots off…</a:t>
            </a:r>
            <a:endParaRPr>
              <a:solidFill>
                <a:srgbClr val="595959"/>
              </a:solidFill>
            </a:endParaRPr>
          </a:p>
          <a:p>
            <a:pPr indent="0" lvl="0" marL="0" rtl="0" algn="l">
              <a:lnSpc>
                <a:spcPct val="115000"/>
              </a:lnSpc>
              <a:spcBef>
                <a:spcPts val="1200"/>
              </a:spcBef>
              <a:spcAft>
                <a:spcPts val="1200"/>
              </a:spcAft>
              <a:buClr>
                <a:schemeClr val="dk1"/>
              </a:buClr>
              <a:buSzPts val="1100"/>
              <a:buFont typeface="Arial"/>
              <a:buNone/>
            </a:pPr>
            <a:r>
              <a:rPr lang="en">
                <a:solidFill>
                  <a:srgbClr val="595959"/>
                </a:solidFill>
              </a:rPr>
              <a:t>Our hypothesis was that overall shooting efficiency would increase in all aspects as the number of opposing players decreases.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8f88884c4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8f88884c4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event variable measures the result of the shot. MISS = shot off target. SHOT = shot on goal that is saved. GOAL = a goal. The y axis for this plot is on a percent scale. As we can see, there percentage of missed shots stays constant across the number of opposing players on the ice. This is a little surprising as we would’ve thought misses would decrease since you should have less rushed shots when there are less defenders. We also notice that as the number of opposing skaters decreases, the percentage of shots on goal that result in goals increases. This fits with our expectation, since it is easier for the shooting team to get high quality looks with less defenders on the ice.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e594cc111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e594cc111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e594cc111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e594cc111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e594cc1110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e594cc1110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8f88884c4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8f88884c4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Strong positive trend…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8f88884c4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8f88884c4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10450" l="3334" r="0" t="4587"/>
          <a:stretch/>
        </p:blipFill>
        <p:spPr>
          <a:xfrm>
            <a:off x="0" y="0"/>
            <a:ext cx="9144000" cy="5143500"/>
          </a:xfrm>
          <a:prstGeom prst="rect">
            <a:avLst/>
          </a:prstGeom>
          <a:noFill/>
          <a:ln>
            <a:noFill/>
          </a:ln>
        </p:spPr>
      </p:pic>
      <p:sp>
        <p:nvSpPr>
          <p:cNvPr id="55" name="Google Shape;55;p13"/>
          <p:cNvSpPr txBox="1"/>
          <p:nvPr>
            <p:ph type="ctrTitle"/>
          </p:nvPr>
        </p:nvSpPr>
        <p:spPr>
          <a:xfrm>
            <a:off x="1845850" y="542100"/>
            <a:ext cx="6584400" cy="160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5500">
                <a:latin typeface="Mate SC"/>
                <a:ea typeface="Mate SC"/>
                <a:cs typeface="Mate SC"/>
                <a:sym typeface="Mate SC"/>
              </a:rPr>
              <a:t>Scoring in the NHL</a:t>
            </a:r>
            <a:endParaRPr b="1" sz="5500">
              <a:latin typeface="Mate SC"/>
              <a:ea typeface="Mate SC"/>
              <a:cs typeface="Mate SC"/>
              <a:sym typeface="Mate SC"/>
            </a:endParaRPr>
          </a:p>
        </p:txBody>
      </p:sp>
      <p:sp>
        <p:nvSpPr>
          <p:cNvPr id="56" name="Google Shape;56;p13"/>
          <p:cNvSpPr txBox="1"/>
          <p:nvPr>
            <p:ph idx="1" type="subTitle"/>
          </p:nvPr>
        </p:nvSpPr>
        <p:spPr>
          <a:xfrm>
            <a:off x="877750" y="23232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1018"/>
              <a:buNone/>
            </a:pPr>
            <a:r>
              <a:rPr b="1" lang="en" sz="2490">
                <a:solidFill>
                  <a:srgbClr val="000000"/>
                </a:solidFill>
                <a:latin typeface="Mate SC"/>
                <a:ea typeface="Mate SC"/>
                <a:cs typeface="Mate SC"/>
                <a:sym typeface="Mate SC"/>
              </a:rPr>
              <a:t>By Fritz Sanger, Christina Vu, Chisunta Chikwamu</a:t>
            </a:r>
            <a:endParaRPr b="1" sz="2490">
              <a:solidFill>
                <a:srgbClr val="000000"/>
              </a:solidFill>
              <a:latin typeface="Mate SC"/>
              <a:ea typeface="Mate SC"/>
              <a:cs typeface="Mate SC"/>
              <a:sym typeface="Mate SC"/>
            </a:endParaRPr>
          </a:p>
        </p:txBody>
      </p:sp>
      <p:sp>
        <p:nvSpPr>
          <p:cNvPr id="57" name="Google Shape;57;p13"/>
          <p:cNvSpPr/>
          <p:nvPr/>
        </p:nvSpPr>
        <p:spPr>
          <a:xfrm>
            <a:off x="0" y="0"/>
            <a:ext cx="9144000" cy="514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p:nvPr/>
        </p:nvSpPr>
        <p:spPr>
          <a:xfrm>
            <a:off x="0" y="11500"/>
            <a:ext cx="9167100" cy="5143500"/>
          </a:xfrm>
          <a:prstGeom prst="rect">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Overview of our dataset</a:t>
            </a:r>
            <a:endParaRPr b="1"/>
          </a:p>
        </p:txBody>
      </p:sp>
      <p:sp>
        <p:nvSpPr>
          <p:cNvPr id="64" name="Google Shape;64;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0000"/>
                </a:solidFill>
              </a:rPr>
              <a:t>2023 </a:t>
            </a:r>
            <a:r>
              <a:rPr lang="en">
                <a:solidFill>
                  <a:srgbClr val="000000"/>
                </a:solidFill>
              </a:rPr>
              <a:t>NHL Playoff shots database</a:t>
            </a:r>
            <a:endParaRPr>
              <a:solidFill>
                <a:srgbClr val="000000"/>
              </a:solidFill>
            </a:endParaRPr>
          </a:p>
          <a:p>
            <a:pPr indent="0" lvl="0" marL="0" rtl="0" algn="l">
              <a:spcBef>
                <a:spcPts val="1200"/>
              </a:spcBef>
              <a:spcAft>
                <a:spcPts val="0"/>
              </a:spcAft>
              <a:buNone/>
            </a:pPr>
            <a:r>
              <a:rPr lang="en">
                <a:solidFill>
                  <a:srgbClr val="000000"/>
                </a:solidFill>
              </a:rPr>
              <a:t>Each entry is a shot attempt (over 122,000 entries)</a:t>
            </a:r>
            <a:endParaRPr>
              <a:solidFill>
                <a:srgbClr val="000000"/>
              </a:solidFill>
            </a:endParaRPr>
          </a:p>
          <a:p>
            <a:pPr indent="0" lvl="0" marL="0" rtl="0" algn="l">
              <a:spcBef>
                <a:spcPts val="1200"/>
              </a:spcBef>
              <a:spcAft>
                <a:spcPts val="0"/>
              </a:spcAft>
              <a:buNone/>
            </a:pPr>
            <a:r>
              <a:rPr lang="en">
                <a:solidFill>
                  <a:srgbClr val="000000"/>
                </a:solidFill>
              </a:rPr>
              <a:t>Dataset contains 124 variables giving information about:</a:t>
            </a:r>
            <a:endParaRPr>
              <a:solidFill>
                <a:srgbClr val="000000"/>
              </a:solidFill>
            </a:endParaRPr>
          </a:p>
          <a:p>
            <a:pPr indent="-342900" lvl="0" marL="457200" rtl="0" algn="l">
              <a:spcBef>
                <a:spcPts val="1200"/>
              </a:spcBef>
              <a:spcAft>
                <a:spcPts val="0"/>
              </a:spcAft>
              <a:buClr>
                <a:srgbClr val="000000"/>
              </a:buClr>
              <a:buSzPts val="1800"/>
              <a:buChar char="-"/>
            </a:pPr>
            <a:r>
              <a:rPr lang="en">
                <a:solidFill>
                  <a:srgbClr val="000000"/>
                </a:solidFill>
              </a:rPr>
              <a:t>Result of shot</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How long/many players were on the ice at time of shot</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Shot characteristics (location, distance, angle, type)</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The event previous to the shot</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etc.</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22650" y="362850"/>
            <a:ext cx="9098700" cy="644100"/>
          </a:xfrm>
          <a:prstGeom prst="rect">
            <a:avLst/>
          </a:prstGeom>
        </p:spPr>
        <p:txBody>
          <a:bodyPr anchorCtr="0" anchor="t" bIns="91425" lIns="91425" spcFirstLastPara="1" rIns="91425" wrap="square" tIns="91425">
            <a:noAutofit/>
          </a:bodyPr>
          <a:lstStyle/>
          <a:p>
            <a:pPr indent="0" lvl="0" marL="0" rtl="0" algn="ctr">
              <a:lnSpc>
                <a:spcPct val="115000"/>
              </a:lnSpc>
              <a:spcBef>
                <a:spcPts val="2400"/>
              </a:spcBef>
              <a:spcAft>
                <a:spcPts val="600"/>
              </a:spcAft>
              <a:buClr>
                <a:schemeClr val="dk1"/>
              </a:buClr>
              <a:buSzPts val="990"/>
              <a:buFont typeface="Arial"/>
              <a:buNone/>
            </a:pPr>
            <a:r>
              <a:rPr b="1" lang="en" sz="2360"/>
              <a:t>Relationship between Player Fatigue and Shot effectiveness</a:t>
            </a:r>
            <a:endParaRPr sz="2360"/>
          </a:p>
        </p:txBody>
      </p:sp>
      <p:sp>
        <p:nvSpPr>
          <p:cNvPr id="70" name="Google Shape;70;p15"/>
          <p:cNvSpPr txBox="1"/>
          <p:nvPr>
            <p:ph idx="1" type="body"/>
          </p:nvPr>
        </p:nvSpPr>
        <p:spPr>
          <a:xfrm>
            <a:off x="311700" y="1076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chemeClr val="dk1"/>
                </a:solidFill>
              </a:rPr>
              <a:t>Question: Is there a relationship between player fatigue and shot effectiveness?</a:t>
            </a:r>
            <a:endParaRPr sz="1700">
              <a:solidFill>
                <a:schemeClr val="dk1"/>
              </a:solidFill>
            </a:endParaRPr>
          </a:p>
          <a:p>
            <a:pPr indent="-336550" lvl="0" marL="457200" rtl="0" algn="l">
              <a:spcBef>
                <a:spcPts val="1200"/>
              </a:spcBef>
              <a:spcAft>
                <a:spcPts val="0"/>
              </a:spcAft>
              <a:buClr>
                <a:schemeClr val="dk1"/>
              </a:buClr>
              <a:buSzPts val="1700"/>
              <a:buAutoNum type="arabicPeriod"/>
            </a:pPr>
            <a:r>
              <a:rPr lang="en" sz="1700">
                <a:solidFill>
                  <a:schemeClr val="dk1"/>
                </a:solidFill>
              </a:rPr>
              <a:t>Hypothesis</a:t>
            </a:r>
            <a:endParaRPr sz="1700">
              <a:solidFill>
                <a:schemeClr val="dk1"/>
              </a:solidFill>
            </a:endParaRPr>
          </a:p>
          <a:p>
            <a:pPr indent="0" lvl="0" marL="0" rtl="0" algn="l">
              <a:spcBef>
                <a:spcPts val="1200"/>
              </a:spcBef>
              <a:spcAft>
                <a:spcPts val="0"/>
              </a:spcAft>
              <a:buClr>
                <a:schemeClr val="dk1"/>
              </a:buClr>
              <a:buSzPts val="1100"/>
              <a:buFont typeface="Arial"/>
              <a:buNone/>
            </a:pPr>
            <a:r>
              <a:rPr lang="en" sz="1700">
                <a:solidFill>
                  <a:schemeClr val="dk1"/>
                </a:solidFill>
              </a:rPr>
              <a:t>The longer time the player spends on ice the less likely they are to score.</a:t>
            </a:r>
            <a:endParaRPr sz="1700">
              <a:solidFill>
                <a:schemeClr val="dk1"/>
              </a:solidFill>
            </a:endParaRPr>
          </a:p>
          <a:p>
            <a:pPr indent="-336550" lvl="0" marL="457200" rtl="0" algn="l">
              <a:spcBef>
                <a:spcPts val="1200"/>
              </a:spcBef>
              <a:spcAft>
                <a:spcPts val="0"/>
              </a:spcAft>
              <a:buClr>
                <a:schemeClr val="dk1"/>
              </a:buClr>
              <a:buSzPts val="1700"/>
              <a:buAutoNum type="arabicPeriod"/>
            </a:pPr>
            <a:r>
              <a:rPr lang="en" sz="1700">
                <a:solidFill>
                  <a:schemeClr val="dk1"/>
                </a:solidFill>
              </a:rPr>
              <a:t>Metrics:</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Shot effectiveness defined as the total number of goals made out of the total shots made in a </a:t>
            </a:r>
            <a:r>
              <a:rPr lang="en" sz="1700">
                <a:solidFill>
                  <a:schemeClr val="dk1"/>
                </a:solidFill>
              </a:rPr>
              <a:t>specified</a:t>
            </a:r>
            <a:r>
              <a:rPr lang="en" sz="1700">
                <a:solidFill>
                  <a:schemeClr val="dk1"/>
                </a:solidFill>
              </a:rPr>
              <a:t> time interval.</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Player </a:t>
            </a:r>
            <a:r>
              <a:rPr lang="en" sz="1700">
                <a:solidFill>
                  <a:schemeClr val="dk1"/>
                </a:solidFill>
              </a:rPr>
              <a:t>fatigue</a:t>
            </a:r>
            <a:r>
              <a:rPr lang="en" sz="1700">
                <a:solidFill>
                  <a:schemeClr val="dk1"/>
                </a:solidFill>
              </a:rPr>
              <a:t> is defined as the times a player spends on Ice </a:t>
            </a:r>
            <a:r>
              <a:rPr lang="en" sz="1700">
                <a:solidFill>
                  <a:schemeClr val="dk1"/>
                </a:solidFill>
              </a:rPr>
              <a:t>segmented</a:t>
            </a:r>
            <a:r>
              <a:rPr lang="en" sz="1700">
                <a:solidFill>
                  <a:schemeClr val="dk1"/>
                </a:solidFill>
              </a:rPr>
              <a:t> into intervals of 60 seconds each</a:t>
            </a:r>
            <a:endParaRPr sz="1700">
              <a:solidFill>
                <a:schemeClr val="dk1"/>
              </a:solidFill>
            </a:endParaRPr>
          </a:p>
        </p:txBody>
      </p:sp>
      <p:sp>
        <p:nvSpPr>
          <p:cNvPr id="71" name="Google Shape;71;p15"/>
          <p:cNvSpPr/>
          <p:nvPr/>
        </p:nvSpPr>
        <p:spPr>
          <a:xfrm>
            <a:off x="-22650" y="1806000"/>
            <a:ext cx="9144000" cy="514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p:nvPr/>
        </p:nvSpPr>
        <p:spPr>
          <a:xfrm>
            <a:off x="0" y="0"/>
            <a:ext cx="9144000" cy="514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6"/>
          <p:cNvSpPr txBox="1"/>
          <p:nvPr>
            <p:ph type="title"/>
          </p:nvPr>
        </p:nvSpPr>
        <p:spPr>
          <a:xfrm>
            <a:off x="0" y="0"/>
            <a:ext cx="9144000" cy="47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220">
                <a:solidFill>
                  <a:srgbClr val="000000"/>
                </a:solidFill>
              </a:rPr>
              <a:t>Shot effectiveness increases with increase in shooter time on Ice</a:t>
            </a:r>
            <a:endParaRPr b="1" sz="2220">
              <a:solidFill>
                <a:srgbClr val="000000"/>
              </a:solidFill>
            </a:endParaRPr>
          </a:p>
        </p:txBody>
      </p:sp>
      <p:pic>
        <p:nvPicPr>
          <p:cNvPr id="78" name="Google Shape;78;p16"/>
          <p:cNvPicPr preferRelativeResize="0"/>
          <p:nvPr/>
        </p:nvPicPr>
        <p:blipFill rotWithShape="1">
          <a:blip r:embed="rId3">
            <a:alphaModFix/>
          </a:blip>
          <a:srcRect b="2248" l="0" r="-786" t="0"/>
          <a:stretch/>
        </p:blipFill>
        <p:spPr>
          <a:xfrm>
            <a:off x="892650" y="614350"/>
            <a:ext cx="7258624" cy="4348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p:nvPr/>
        </p:nvSpPr>
        <p:spPr>
          <a:xfrm>
            <a:off x="0" y="0"/>
            <a:ext cx="9144000" cy="514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7"/>
          <p:cNvSpPr txBox="1"/>
          <p:nvPr>
            <p:ph type="title"/>
          </p:nvPr>
        </p:nvSpPr>
        <p:spPr>
          <a:xfrm>
            <a:off x="311700" y="5357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How D</a:t>
            </a:r>
            <a:r>
              <a:rPr b="1" lang="en"/>
              <a:t>oes</a:t>
            </a:r>
            <a:r>
              <a:rPr b="1" lang="en"/>
              <a:t> Shooting </a:t>
            </a:r>
            <a:r>
              <a:rPr b="1" lang="en"/>
              <a:t>Effectiveness Change as the Number of Defenders Decreases</a:t>
            </a:r>
            <a:endParaRPr b="1"/>
          </a:p>
        </p:txBody>
      </p:sp>
      <p:sp>
        <p:nvSpPr>
          <p:cNvPr id="85" name="Google Shape;85;p17"/>
          <p:cNvSpPr txBox="1"/>
          <p:nvPr>
            <p:ph idx="1" type="body"/>
          </p:nvPr>
        </p:nvSpPr>
        <p:spPr>
          <a:xfrm>
            <a:off x="311700" y="2131750"/>
            <a:ext cx="8520600" cy="1036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solidFill>
                  <a:srgbClr val="000000"/>
                </a:solidFill>
              </a:rPr>
              <a:t>Hypothesis: </a:t>
            </a:r>
            <a:r>
              <a:rPr lang="en">
                <a:solidFill>
                  <a:srgbClr val="000000"/>
                </a:solidFill>
              </a:rPr>
              <a:t>Player shooting efficiency will improve across all categories as the number of opposing players on the ice decreases</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8"/>
          <p:cNvPicPr preferRelativeResize="0"/>
          <p:nvPr/>
        </p:nvPicPr>
        <p:blipFill rotWithShape="1">
          <a:blip r:embed="rId3">
            <a:alphaModFix/>
          </a:blip>
          <a:srcRect b="3456" l="0" r="0" t="0"/>
          <a:stretch/>
        </p:blipFill>
        <p:spPr>
          <a:xfrm>
            <a:off x="0" y="322175"/>
            <a:ext cx="9144003" cy="4821325"/>
          </a:xfrm>
          <a:prstGeom prst="rect">
            <a:avLst/>
          </a:prstGeom>
          <a:noFill/>
          <a:ln>
            <a:noFill/>
          </a:ln>
        </p:spPr>
      </p:pic>
      <p:sp>
        <p:nvSpPr>
          <p:cNvPr id="91" name="Google Shape;91;p18"/>
          <p:cNvSpPr txBox="1"/>
          <p:nvPr/>
        </p:nvSpPr>
        <p:spPr>
          <a:xfrm>
            <a:off x="1150650" y="0"/>
            <a:ext cx="6290400" cy="461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t>Shooting Performance by Number of Opposing Skaters</a:t>
            </a:r>
            <a:endParaRPr b="1" sz="1800"/>
          </a:p>
        </p:txBody>
      </p:sp>
      <p:sp>
        <p:nvSpPr>
          <p:cNvPr id="92" name="Google Shape;92;p18"/>
          <p:cNvSpPr/>
          <p:nvPr/>
        </p:nvSpPr>
        <p:spPr>
          <a:xfrm>
            <a:off x="11500" y="0"/>
            <a:ext cx="9144000" cy="51435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8"/>
          <p:cNvSpPr/>
          <p:nvPr/>
        </p:nvSpPr>
        <p:spPr>
          <a:xfrm>
            <a:off x="0" y="0"/>
            <a:ext cx="9144000" cy="514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p:nvPr/>
        </p:nvSpPr>
        <p:spPr>
          <a:xfrm>
            <a:off x="0" y="0"/>
            <a:ext cx="9144000" cy="514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9"/>
          <p:cNvSpPr txBox="1"/>
          <p:nvPr>
            <p:ph type="title"/>
          </p:nvPr>
        </p:nvSpPr>
        <p:spPr>
          <a:xfrm>
            <a:off x="-81600" y="483350"/>
            <a:ext cx="9307200" cy="52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120"/>
              <a:t>Are shots taken closer to the net more likely to generate rebounds?</a:t>
            </a:r>
            <a:endParaRPr b="1" sz="2120"/>
          </a:p>
          <a:p>
            <a:pPr indent="0" lvl="0" marL="0" rtl="0" algn="ctr">
              <a:spcBef>
                <a:spcPts val="0"/>
              </a:spcBef>
              <a:spcAft>
                <a:spcPts val="0"/>
              </a:spcAft>
              <a:buSzPts val="990"/>
              <a:buNone/>
            </a:pPr>
            <a:r>
              <a:t/>
            </a:r>
            <a:endParaRPr b="1" sz="2320"/>
          </a:p>
        </p:txBody>
      </p:sp>
      <p:pic>
        <p:nvPicPr>
          <p:cNvPr id="100" name="Google Shape;100;p19"/>
          <p:cNvPicPr preferRelativeResize="0"/>
          <p:nvPr/>
        </p:nvPicPr>
        <p:blipFill>
          <a:blip r:embed="rId3">
            <a:alphaModFix/>
          </a:blip>
          <a:stretch>
            <a:fillRect/>
          </a:stretch>
        </p:blipFill>
        <p:spPr>
          <a:xfrm>
            <a:off x="182738" y="1952525"/>
            <a:ext cx="5238624" cy="2902774"/>
          </a:xfrm>
          <a:prstGeom prst="rect">
            <a:avLst/>
          </a:prstGeom>
          <a:noFill/>
          <a:ln>
            <a:noFill/>
          </a:ln>
        </p:spPr>
      </p:pic>
      <p:sp>
        <p:nvSpPr>
          <p:cNvPr id="101" name="Google Shape;101;p19"/>
          <p:cNvSpPr txBox="1"/>
          <p:nvPr/>
        </p:nvSpPr>
        <p:spPr>
          <a:xfrm>
            <a:off x="650300" y="1322700"/>
            <a:ext cx="4303500" cy="400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Penguins Missed Shot and Rebound Locations</a:t>
            </a:r>
            <a:endParaRPr/>
          </a:p>
        </p:txBody>
      </p:sp>
      <p:sp>
        <p:nvSpPr>
          <p:cNvPr id="102" name="Google Shape;102;p19"/>
          <p:cNvSpPr txBox="1"/>
          <p:nvPr/>
        </p:nvSpPr>
        <p:spPr>
          <a:xfrm>
            <a:off x="5491950" y="2641325"/>
            <a:ext cx="3491400" cy="100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CC0000"/>
                </a:solidFill>
              </a:rPr>
              <a:t>What’s wrong?</a:t>
            </a:r>
            <a:endParaRPr sz="1600">
              <a:solidFill>
                <a:srgbClr val="CC0000"/>
              </a:solidFill>
            </a:endParaRPr>
          </a:p>
          <a:p>
            <a:pPr indent="0" lvl="0" marL="0" rtl="0" algn="l">
              <a:spcBef>
                <a:spcPts val="0"/>
              </a:spcBef>
              <a:spcAft>
                <a:spcPts val="0"/>
              </a:spcAft>
              <a:buNone/>
            </a:pPr>
            <a:r>
              <a:t/>
            </a:r>
            <a:endParaRPr sz="700">
              <a:solidFill>
                <a:srgbClr val="CC0000"/>
              </a:solidFill>
            </a:endParaRPr>
          </a:p>
          <a:p>
            <a:pPr indent="-323850" lvl="0" marL="457200" rtl="0" algn="l">
              <a:spcBef>
                <a:spcPts val="0"/>
              </a:spcBef>
              <a:spcAft>
                <a:spcPts val="0"/>
              </a:spcAft>
              <a:buClr>
                <a:schemeClr val="dk1"/>
              </a:buClr>
              <a:buSzPts val="1500"/>
              <a:buChar char="●"/>
            </a:pPr>
            <a:r>
              <a:rPr lang="en" sz="1500">
                <a:solidFill>
                  <a:schemeClr val="dk1"/>
                </a:solidFill>
              </a:rPr>
              <a:t>H</a:t>
            </a:r>
            <a:r>
              <a:rPr lang="en" sz="1500">
                <a:solidFill>
                  <a:schemeClr val="dk1"/>
                </a:solidFill>
              </a:rPr>
              <a:t>igher shot density near the net </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Not account for shot techniques</a:t>
            </a:r>
            <a:endParaRPr sz="15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0"/>
          <p:cNvPicPr preferRelativeResize="0"/>
          <p:nvPr/>
        </p:nvPicPr>
        <p:blipFill rotWithShape="1">
          <a:blip r:embed="rId3">
            <a:alphaModFix/>
          </a:blip>
          <a:srcRect b="5340" l="0" r="0" t="5643"/>
          <a:stretch/>
        </p:blipFill>
        <p:spPr>
          <a:xfrm>
            <a:off x="114750" y="405852"/>
            <a:ext cx="7663676" cy="4737647"/>
          </a:xfrm>
          <a:prstGeom prst="rect">
            <a:avLst/>
          </a:prstGeom>
          <a:noFill/>
          <a:ln>
            <a:noFill/>
          </a:ln>
        </p:spPr>
      </p:pic>
      <p:sp>
        <p:nvSpPr>
          <p:cNvPr id="108" name="Google Shape;108;p20"/>
          <p:cNvSpPr txBox="1"/>
          <p:nvPr/>
        </p:nvSpPr>
        <p:spPr>
          <a:xfrm>
            <a:off x="917638" y="0"/>
            <a:ext cx="6057900" cy="415500"/>
          </a:xfrm>
          <a:prstGeom prst="rect">
            <a:avLst/>
          </a:prstGeom>
          <a:solidFill>
            <a:srgbClr val="FFFFFF"/>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t>The Penguins Missed Shot and Rebound Locations</a:t>
            </a:r>
            <a:r>
              <a:rPr b="1" lang="en" sz="1500"/>
              <a:t> by Shot Types</a:t>
            </a:r>
            <a:endParaRPr b="1" sz="1500"/>
          </a:p>
        </p:txBody>
      </p:sp>
      <p:sp>
        <p:nvSpPr>
          <p:cNvPr id="109" name="Google Shape;109;p20"/>
          <p:cNvSpPr txBox="1"/>
          <p:nvPr/>
        </p:nvSpPr>
        <p:spPr>
          <a:xfrm>
            <a:off x="7825825" y="743725"/>
            <a:ext cx="1328100" cy="4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Not effective near the net</a:t>
            </a:r>
            <a:endParaRPr>
              <a:solidFill>
                <a:schemeClr val="dk1"/>
              </a:solidFill>
            </a:endParaRPr>
          </a:p>
        </p:txBody>
      </p:sp>
      <p:sp>
        <p:nvSpPr>
          <p:cNvPr id="110" name="Google Shape;110;p20"/>
          <p:cNvSpPr/>
          <p:nvPr/>
        </p:nvSpPr>
        <p:spPr>
          <a:xfrm>
            <a:off x="7885825" y="1371750"/>
            <a:ext cx="1113300" cy="137700"/>
          </a:xfrm>
          <a:prstGeom prst="lef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p:nvPr/>
        </p:nvSpPr>
        <p:spPr>
          <a:xfrm>
            <a:off x="7885825" y="2875063"/>
            <a:ext cx="1113300" cy="137700"/>
          </a:xfrm>
          <a:prstGeom prst="leftArrow">
            <a:avLst>
              <a:gd fmla="val 50000" name="adj1"/>
              <a:gd fmla="val 50000" name="adj2"/>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0"/>
          <p:cNvSpPr txBox="1"/>
          <p:nvPr/>
        </p:nvSpPr>
        <p:spPr>
          <a:xfrm>
            <a:off x="7778425" y="2291350"/>
            <a:ext cx="1422900" cy="4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Only from the side of the net</a:t>
            </a:r>
            <a:endParaRPr>
              <a:solidFill>
                <a:schemeClr val="dk1"/>
              </a:solidFill>
            </a:endParaRPr>
          </a:p>
        </p:txBody>
      </p:sp>
      <p:sp>
        <p:nvSpPr>
          <p:cNvPr id="113" name="Google Shape;113;p20"/>
          <p:cNvSpPr txBox="1"/>
          <p:nvPr/>
        </p:nvSpPr>
        <p:spPr>
          <a:xfrm>
            <a:off x="4265875" y="4125000"/>
            <a:ext cx="3068100" cy="629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CC0000"/>
                </a:solidFill>
              </a:rPr>
              <a:t>Most </a:t>
            </a:r>
            <a:r>
              <a:rPr lang="en">
                <a:solidFill>
                  <a:schemeClr val="dk1"/>
                </a:solidFill>
              </a:rPr>
              <a:t>rebounds were generated near the net, but </a:t>
            </a:r>
            <a:r>
              <a:rPr lang="en">
                <a:solidFill>
                  <a:srgbClr val="CC0000"/>
                </a:solidFill>
              </a:rPr>
              <a:t>varied </a:t>
            </a:r>
            <a:r>
              <a:rPr lang="en">
                <a:solidFill>
                  <a:schemeClr val="dk1"/>
                </a:solidFill>
              </a:rPr>
              <a:t>by short types</a:t>
            </a:r>
            <a:endParaRPr>
              <a:solidFill>
                <a:schemeClr val="dk1"/>
              </a:solidFill>
            </a:endParaRPr>
          </a:p>
        </p:txBody>
      </p:sp>
      <p:sp>
        <p:nvSpPr>
          <p:cNvPr id="114" name="Google Shape;114;p20"/>
          <p:cNvSpPr txBox="1"/>
          <p:nvPr/>
        </p:nvSpPr>
        <p:spPr>
          <a:xfrm>
            <a:off x="4197025" y="3723300"/>
            <a:ext cx="1544400" cy="4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Conclusion</a:t>
            </a:r>
            <a:endParaRPr b="1" sz="1500">
              <a:solidFill>
                <a:schemeClr val="dk1"/>
              </a:solidFill>
            </a:endParaRPr>
          </a:p>
        </p:txBody>
      </p:sp>
      <p:sp>
        <p:nvSpPr>
          <p:cNvPr id="115" name="Google Shape;115;p20"/>
          <p:cNvSpPr/>
          <p:nvPr/>
        </p:nvSpPr>
        <p:spPr>
          <a:xfrm>
            <a:off x="0" y="0"/>
            <a:ext cx="9144000" cy="514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2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1044600" y="181075"/>
            <a:ext cx="70548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Cluster Analysis of NHL Team Shot Patterns</a:t>
            </a:r>
            <a:endParaRPr b="1"/>
          </a:p>
        </p:txBody>
      </p:sp>
      <p:sp>
        <p:nvSpPr>
          <p:cNvPr id="122" name="Google Shape;122;p21"/>
          <p:cNvSpPr txBox="1"/>
          <p:nvPr/>
        </p:nvSpPr>
        <p:spPr>
          <a:xfrm>
            <a:off x="447375" y="972075"/>
            <a:ext cx="6083700" cy="100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CC0000"/>
                </a:solidFill>
                <a:highlight>
                  <a:srgbClr val="FFFFFF"/>
                </a:highlight>
                <a:latin typeface="Roboto"/>
                <a:ea typeface="Roboto"/>
                <a:cs typeface="Roboto"/>
                <a:sym typeface="Roboto"/>
              </a:rPr>
              <a:t>Choosing Key Variables:</a:t>
            </a:r>
            <a:r>
              <a:rPr lang="en" sz="1500">
                <a:solidFill>
                  <a:srgbClr val="CC0000"/>
                </a:solidFill>
                <a:highlight>
                  <a:srgbClr val="FFFFFF"/>
                </a:highlight>
                <a:latin typeface="Roboto"/>
                <a:ea typeface="Roboto"/>
                <a:cs typeface="Roboto"/>
                <a:sym typeface="Roboto"/>
              </a:rPr>
              <a:t> </a:t>
            </a:r>
            <a:r>
              <a:rPr lang="en" sz="1500">
                <a:solidFill>
                  <a:srgbClr val="1F1F1F"/>
                </a:solidFill>
                <a:highlight>
                  <a:srgbClr val="FFFFFF"/>
                </a:highlight>
                <a:latin typeface="Roboto"/>
                <a:ea typeface="Roboto"/>
                <a:cs typeface="Roboto"/>
                <a:sym typeface="Roboto"/>
              </a:rPr>
              <a:t>Principal Component Analysis (PCA)</a:t>
            </a:r>
            <a:endParaRPr sz="1500">
              <a:solidFill>
                <a:srgbClr val="1F1F1F"/>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800">
              <a:solidFill>
                <a:srgbClr val="1F1F1F"/>
              </a:solidFill>
              <a:highlight>
                <a:srgbClr val="FFFFFF"/>
              </a:highlight>
              <a:latin typeface="Roboto"/>
              <a:ea typeface="Roboto"/>
              <a:cs typeface="Roboto"/>
              <a:sym typeface="Roboto"/>
            </a:endParaRPr>
          </a:p>
          <a:p>
            <a:pPr indent="-323850" lvl="0" marL="457200" rtl="0" algn="l">
              <a:spcBef>
                <a:spcPts val="0"/>
              </a:spcBef>
              <a:spcAft>
                <a:spcPts val="0"/>
              </a:spcAft>
              <a:buClr>
                <a:srgbClr val="1F1F1F"/>
              </a:buClr>
              <a:buSzPts val="1500"/>
              <a:buFont typeface="Roboto"/>
              <a:buChar char="●"/>
            </a:pPr>
            <a:r>
              <a:rPr lang="en" sz="1500">
                <a:solidFill>
                  <a:srgbClr val="1F1F1F"/>
                </a:solidFill>
                <a:highlight>
                  <a:srgbClr val="FFFFFF"/>
                </a:highlight>
                <a:latin typeface="Roboto"/>
                <a:ea typeface="Roboto"/>
                <a:cs typeface="Roboto"/>
                <a:sym typeface="Roboto"/>
              </a:rPr>
              <a:t>Reduce dimension while keeping key information.</a:t>
            </a:r>
            <a:endParaRPr sz="1500">
              <a:solidFill>
                <a:srgbClr val="1F1F1F"/>
              </a:solidFill>
              <a:highlight>
                <a:srgbClr val="FFFFFF"/>
              </a:highlight>
              <a:latin typeface="Roboto"/>
              <a:ea typeface="Roboto"/>
              <a:cs typeface="Roboto"/>
              <a:sym typeface="Roboto"/>
            </a:endParaRPr>
          </a:p>
          <a:p>
            <a:pPr indent="-323850" lvl="0" marL="457200" rtl="0" algn="l">
              <a:spcBef>
                <a:spcPts val="0"/>
              </a:spcBef>
              <a:spcAft>
                <a:spcPts val="0"/>
              </a:spcAft>
              <a:buClr>
                <a:srgbClr val="1F1F1F"/>
              </a:buClr>
              <a:buSzPts val="1500"/>
              <a:buFont typeface="Roboto"/>
              <a:buChar char="●"/>
            </a:pPr>
            <a:r>
              <a:rPr lang="en" sz="1500">
                <a:solidFill>
                  <a:srgbClr val="1F1F1F"/>
                </a:solidFill>
                <a:highlight>
                  <a:srgbClr val="FFFFFF"/>
                </a:highlight>
                <a:latin typeface="Roboto"/>
                <a:ea typeface="Roboto"/>
                <a:cs typeface="Roboto"/>
                <a:sym typeface="Roboto"/>
              </a:rPr>
              <a:t>Identify variables that best differentiate teams' shot patterns.</a:t>
            </a:r>
            <a:endParaRPr sz="1500">
              <a:solidFill>
                <a:srgbClr val="1F1F1F"/>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500">
              <a:solidFill>
                <a:srgbClr val="1F1F1F"/>
              </a:solidFill>
              <a:highlight>
                <a:srgbClr val="FFFFFF"/>
              </a:highlight>
              <a:latin typeface="Roboto"/>
              <a:ea typeface="Roboto"/>
              <a:cs typeface="Roboto"/>
              <a:sym typeface="Roboto"/>
            </a:endParaRPr>
          </a:p>
        </p:txBody>
      </p:sp>
      <p:graphicFrame>
        <p:nvGraphicFramePr>
          <p:cNvPr id="123" name="Google Shape;123;p21"/>
          <p:cNvGraphicFramePr/>
          <p:nvPr/>
        </p:nvGraphicFramePr>
        <p:xfrm>
          <a:off x="2171300" y="2195675"/>
          <a:ext cx="3000000" cy="3000000"/>
        </p:xfrm>
        <a:graphic>
          <a:graphicData uri="http://schemas.openxmlformats.org/drawingml/2006/table">
            <a:tbl>
              <a:tblPr>
                <a:noFill/>
                <a:tableStyleId>{F9DE156A-A7F2-4D14-8200-28285E97B4E8}</a:tableStyleId>
              </a:tblPr>
              <a:tblGrid>
                <a:gridCol w="3558275"/>
                <a:gridCol w="1399225"/>
              </a:tblGrid>
              <a:tr h="423300">
                <a:tc>
                  <a:txBody>
                    <a:bodyPr/>
                    <a:lstStyle/>
                    <a:p>
                      <a:pPr indent="0" lvl="0" marL="0" rtl="0" algn="ctr">
                        <a:spcBef>
                          <a:spcPts val="0"/>
                        </a:spcBef>
                        <a:spcAft>
                          <a:spcPts val="0"/>
                        </a:spcAft>
                        <a:buNone/>
                      </a:pPr>
                      <a:r>
                        <a:rPr b="1" lang="en"/>
                        <a:t>Variables</a:t>
                      </a:r>
                      <a:endParaRPr b="1"/>
                    </a:p>
                  </a:txBody>
                  <a:tcPr marT="91425" marB="91425" marR="91425" marL="91425"/>
                </a:tc>
                <a:tc>
                  <a:txBody>
                    <a:bodyPr/>
                    <a:lstStyle/>
                    <a:p>
                      <a:pPr indent="0" lvl="0" marL="0" rtl="0" algn="ctr">
                        <a:spcBef>
                          <a:spcPts val="0"/>
                        </a:spcBef>
                        <a:spcAft>
                          <a:spcPts val="0"/>
                        </a:spcAft>
                        <a:buNone/>
                      </a:pPr>
                      <a:r>
                        <a:rPr b="1" lang="en"/>
                        <a:t>PC1 Loadings </a:t>
                      </a:r>
                      <a:endParaRPr b="1"/>
                    </a:p>
                  </a:txBody>
                  <a:tcPr marT="91425" marB="91425" marR="91425" marL="91425"/>
                </a:tc>
              </a:tr>
              <a:tr h="423300">
                <a:tc>
                  <a:txBody>
                    <a:bodyPr/>
                    <a:lstStyle/>
                    <a:p>
                      <a:pPr indent="0" lvl="0" marL="0" rtl="0" algn="l">
                        <a:spcBef>
                          <a:spcPts val="0"/>
                        </a:spcBef>
                        <a:spcAft>
                          <a:spcPts val="0"/>
                        </a:spcAft>
                        <a:buNone/>
                      </a:pPr>
                      <a:r>
                        <a:rPr lang="en"/>
                        <a:t>Average Expected Goals</a:t>
                      </a:r>
                      <a:endParaRPr/>
                    </a:p>
                  </a:txBody>
                  <a:tcPr marT="91425" marB="91425" marR="91425" marL="91425"/>
                </a:tc>
                <a:tc>
                  <a:txBody>
                    <a:bodyPr/>
                    <a:lstStyle/>
                    <a:p>
                      <a:pPr indent="0" lvl="0" marL="0" rtl="0" algn="ctr">
                        <a:spcBef>
                          <a:spcPts val="0"/>
                        </a:spcBef>
                        <a:spcAft>
                          <a:spcPts val="0"/>
                        </a:spcAft>
                        <a:buNone/>
                      </a:pPr>
                      <a:r>
                        <a:rPr lang="en"/>
                        <a:t>0.5723</a:t>
                      </a:r>
                      <a:endParaRPr/>
                    </a:p>
                  </a:txBody>
                  <a:tcPr marT="91425" marB="91425" marR="91425" marL="91425"/>
                </a:tc>
              </a:tr>
              <a:tr h="423300">
                <a:tc>
                  <a:txBody>
                    <a:bodyPr/>
                    <a:lstStyle/>
                    <a:p>
                      <a:pPr indent="0" lvl="0" marL="0" rtl="0" algn="l">
                        <a:spcBef>
                          <a:spcPts val="0"/>
                        </a:spcBef>
                        <a:spcAft>
                          <a:spcPts val="0"/>
                        </a:spcAft>
                        <a:buClr>
                          <a:schemeClr val="dk1"/>
                        </a:buClr>
                        <a:buSzPts val="1100"/>
                        <a:buFont typeface="Arial"/>
                        <a:buNone/>
                      </a:pPr>
                      <a:r>
                        <a:rPr lang="en">
                          <a:solidFill>
                            <a:schemeClr val="dk1"/>
                          </a:solidFill>
                        </a:rPr>
                        <a:t>Average Expected Rebounds</a:t>
                      </a:r>
                      <a:endParaRPr/>
                    </a:p>
                  </a:txBody>
                  <a:tcPr marT="91425" marB="91425" marR="91425" marL="91425"/>
                </a:tc>
                <a:tc>
                  <a:txBody>
                    <a:bodyPr/>
                    <a:lstStyle/>
                    <a:p>
                      <a:pPr indent="0" lvl="0" marL="0" rtl="0" algn="ctr">
                        <a:spcBef>
                          <a:spcPts val="0"/>
                        </a:spcBef>
                        <a:spcAft>
                          <a:spcPts val="0"/>
                        </a:spcAft>
                        <a:buNone/>
                      </a:pPr>
                      <a:r>
                        <a:rPr lang="en"/>
                        <a:t>0.6011</a:t>
                      </a:r>
                      <a:endParaRPr/>
                    </a:p>
                  </a:txBody>
                  <a:tcPr marT="91425" marB="91425" marR="91425" marL="91425"/>
                </a:tc>
              </a:tr>
              <a:tr h="423300">
                <a:tc>
                  <a:txBody>
                    <a:bodyPr/>
                    <a:lstStyle/>
                    <a:p>
                      <a:pPr indent="0" lvl="0" marL="0" rtl="0" algn="l">
                        <a:spcBef>
                          <a:spcPts val="0"/>
                        </a:spcBef>
                        <a:spcAft>
                          <a:spcPts val="0"/>
                        </a:spcAft>
                        <a:buNone/>
                      </a:pPr>
                      <a:r>
                        <a:rPr lang="en">
                          <a:solidFill>
                            <a:schemeClr val="dk1"/>
                          </a:solidFill>
                        </a:rPr>
                        <a:t>Average </a:t>
                      </a:r>
                      <a:r>
                        <a:rPr lang="en"/>
                        <a:t>Shot Distance</a:t>
                      </a:r>
                      <a:endParaRPr/>
                    </a:p>
                  </a:txBody>
                  <a:tcPr marT="91425" marB="91425" marR="91425" marL="91425"/>
                </a:tc>
                <a:tc>
                  <a:txBody>
                    <a:bodyPr/>
                    <a:lstStyle/>
                    <a:p>
                      <a:pPr indent="0" lvl="0" marL="0" rtl="0" algn="ctr">
                        <a:spcBef>
                          <a:spcPts val="0"/>
                        </a:spcBef>
                        <a:spcAft>
                          <a:spcPts val="0"/>
                        </a:spcAft>
                        <a:buNone/>
                      </a:pPr>
                      <a:r>
                        <a:rPr lang="en"/>
                        <a:t>-0.0070</a:t>
                      </a:r>
                      <a:endParaRPr/>
                    </a:p>
                  </a:txBody>
                  <a:tcPr marT="91425" marB="91425" marR="91425" marL="91425"/>
                </a:tc>
              </a:tr>
              <a:tr h="423300">
                <a:tc>
                  <a:txBody>
                    <a:bodyPr/>
                    <a:lstStyle/>
                    <a:p>
                      <a:pPr indent="0" lvl="0" marL="0" rtl="0" algn="l">
                        <a:spcBef>
                          <a:spcPts val="0"/>
                        </a:spcBef>
                        <a:spcAft>
                          <a:spcPts val="0"/>
                        </a:spcAft>
                        <a:buNone/>
                      </a:pPr>
                      <a:r>
                        <a:rPr lang="en"/>
                        <a:t>Average Number of Away Players on Ice</a:t>
                      </a:r>
                      <a:endParaRPr/>
                    </a:p>
                  </a:txBody>
                  <a:tcPr marT="91425" marB="91425" marR="91425" marL="91425"/>
                </a:tc>
                <a:tc>
                  <a:txBody>
                    <a:bodyPr/>
                    <a:lstStyle/>
                    <a:p>
                      <a:pPr indent="0" lvl="0" marL="0" rtl="0" algn="ctr">
                        <a:spcBef>
                          <a:spcPts val="0"/>
                        </a:spcBef>
                        <a:spcAft>
                          <a:spcPts val="0"/>
                        </a:spcAft>
                        <a:buNone/>
                      </a:pPr>
                      <a:r>
                        <a:rPr lang="en"/>
                        <a:t>-</a:t>
                      </a:r>
                      <a:r>
                        <a:rPr lang="en"/>
                        <a:t>0.3834</a:t>
                      </a:r>
                      <a:endParaRPr/>
                    </a:p>
                  </a:txBody>
                  <a:tcPr marT="91425" marB="91425" marR="91425" marL="91425"/>
                </a:tc>
              </a:tr>
              <a:tr h="423300">
                <a:tc>
                  <a:txBody>
                    <a:bodyPr/>
                    <a:lstStyle/>
                    <a:p>
                      <a:pPr indent="0" lvl="0" marL="0" rtl="0" algn="l">
                        <a:spcBef>
                          <a:spcPts val="0"/>
                        </a:spcBef>
                        <a:spcAft>
                          <a:spcPts val="0"/>
                        </a:spcAft>
                        <a:buNone/>
                      </a:pPr>
                      <a:r>
                        <a:rPr lang="en"/>
                        <a:t>Average Time Players on Ice</a:t>
                      </a:r>
                      <a:endParaRPr/>
                    </a:p>
                  </a:txBody>
                  <a:tcPr marT="91425" marB="91425" marR="91425" marL="91425"/>
                </a:tc>
                <a:tc>
                  <a:txBody>
                    <a:bodyPr/>
                    <a:lstStyle/>
                    <a:p>
                      <a:pPr indent="0" lvl="0" marL="0" rtl="0" algn="ctr">
                        <a:spcBef>
                          <a:spcPts val="0"/>
                        </a:spcBef>
                        <a:spcAft>
                          <a:spcPts val="0"/>
                        </a:spcAft>
                        <a:buNone/>
                      </a:pPr>
                      <a:r>
                        <a:rPr lang="en"/>
                        <a:t>0.4051</a:t>
                      </a:r>
                      <a:endParaRPr/>
                    </a:p>
                  </a:txBody>
                  <a:tcPr marT="91425" marB="91425" marR="91425" marL="91425"/>
                </a:tc>
              </a:tr>
            </a:tbl>
          </a:graphicData>
        </a:graphic>
      </p:graphicFrame>
      <p:sp>
        <p:nvSpPr>
          <p:cNvPr id="124" name="Google Shape;124;p21"/>
          <p:cNvSpPr/>
          <p:nvPr/>
        </p:nvSpPr>
        <p:spPr>
          <a:xfrm>
            <a:off x="2069025" y="2573700"/>
            <a:ext cx="5118300" cy="9639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21"/>
          <p:cNvSpPr/>
          <p:nvPr/>
        </p:nvSpPr>
        <p:spPr>
          <a:xfrm>
            <a:off x="0" y="1257000"/>
            <a:ext cx="9144000" cy="514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2"/>
          <p:cNvPicPr preferRelativeResize="0"/>
          <p:nvPr/>
        </p:nvPicPr>
        <p:blipFill>
          <a:blip r:embed="rId3">
            <a:alphaModFix/>
          </a:blip>
          <a:stretch>
            <a:fillRect/>
          </a:stretch>
        </p:blipFill>
        <p:spPr>
          <a:xfrm>
            <a:off x="0" y="0"/>
            <a:ext cx="9144003" cy="5143500"/>
          </a:xfrm>
          <a:prstGeom prst="rect">
            <a:avLst/>
          </a:prstGeom>
          <a:noFill/>
          <a:ln cap="flat" cmpd="sng" w="19050">
            <a:solidFill>
              <a:srgbClr val="000000"/>
            </a:solidFill>
            <a:prstDash val="solid"/>
            <a:round/>
            <a:headEnd len="sm" w="sm" type="none"/>
            <a:tailEnd len="sm" w="sm" type="none"/>
          </a:ln>
        </p:spPr>
      </p:pic>
      <p:sp>
        <p:nvSpPr>
          <p:cNvPr id="131" name="Google Shape;131;p22"/>
          <p:cNvSpPr txBox="1"/>
          <p:nvPr/>
        </p:nvSpPr>
        <p:spPr>
          <a:xfrm>
            <a:off x="796900" y="0"/>
            <a:ext cx="5472000" cy="738900"/>
          </a:xfrm>
          <a:prstGeom prst="rect">
            <a:avLst/>
          </a:prstGeom>
          <a:solidFill>
            <a:srgbClr val="FFFFFF"/>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t>Clustering of NHL teams by Average Expected Goals and Average Rebounds per Shot Attempt</a:t>
            </a:r>
            <a:endParaRPr b="1" sz="1800"/>
          </a:p>
        </p:txBody>
      </p:sp>
      <p:sp>
        <p:nvSpPr>
          <p:cNvPr id="132" name="Google Shape;132;p22"/>
          <p:cNvSpPr/>
          <p:nvPr/>
        </p:nvSpPr>
        <p:spPr>
          <a:xfrm>
            <a:off x="0" y="0"/>
            <a:ext cx="9144000" cy="514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p:nvPr/>
        </p:nvSpPr>
        <p:spPr>
          <a:xfrm>
            <a:off x="0" y="0"/>
            <a:ext cx="9144000" cy="5143500"/>
          </a:xfrm>
          <a:prstGeom prst="rect">
            <a:avLst/>
          </a:prstGeom>
          <a:solidFill>
            <a:srgbClr val="EFEFEF"/>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8" name="Google Shape;138;p23"/>
          <p:cNvPicPr preferRelativeResize="0"/>
          <p:nvPr/>
        </p:nvPicPr>
        <p:blipFill>
          <a:blip r:embed="rId3">
            <a:alphaModFix/>
          </a:blip>
          <a:stretch>
            <a:fillRect/>
          </a:stretch>
        </p:blipFill>
        <p:spPr>
          <a:xfrm>
            <a:off x="4174900" y="174400"/>
            <a:ext cx="4969100" cy="4969100"/>
          </a:xfrm>
          <a:prstGeom prst="rect">
            <a:avLst/>
          </a:prstGeom>
          <a:noFill/>
          <a:ln>
            <a:noFill/>
          </a:ln>
        </p:spPr>
      </p:pic>
      <p:sp>
        <p:nvSpPr>
          <p:cNvPr id="139" name="Google Shape;139;p23"/>
          <p:cNvSpPr txBox="1"/>
          <p:nvPr>
            <p:ph type="title"/>
          </p:nvPr>
        </p:nvSpPr>
        <p:spPr>
          <a:xfrm>
            <a:off x="208425" y="383150"/>
            <a:ext cx="6279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20"/>
              <a:t>Summary</a:t>
            </a:r>
            <a:endParaRPr b="1" sz="2820"/>
          </a:p>
        </p:txBody>
      </p:sp>
      <p:sp>
        <p:nvSpPr>
          <p:cNvPr id="140" name="Google Shape;140;p23"/>
          <p:cNvSpPr txBox="1"/>
          <p:nvPr/>
        </p:nvSpPr>
        <p:spPr>
          <a:xfrm>
            <a:off x="380250" y="2645575"/>
            <a:ext cx="8383500" cy="4617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t>Most rebounds were generated near the net, but varied by shot types.</a:t>
            </a:r>
            <a:endParaRPr sz="1800"/>
          </a:p>
        </p:txBody>
      </p:sp>
      <p:sp>
        <p:nvSpPr>
          <p:cNvPr id="141" name="Google Shape;141;p23"/>
          <p:cNvSpPr txBox="1"/>
          <p:nvPr/>
        </p:nvSpPr>
        <p:spPr>
          <a:xfrm>
            <a:off x="380250" y="1292100"/>
            <a:ext cx="8383500" cy="7389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t>As the number of opposing players on the ice decreases, a greater percentage of shots on goal score.</a:t>
            </a:r>
            <a:endParaRPr sz="1800"/>
          </a:p>
        </p:txBody>
      </p:sp>
      <p:sp>
        <p:nvSpPr>
          <p:cNvPr id="142" name="Google Shape;142;p23"/>
          <p:cNvSpPr txBox="1"/>
          <p:nvPr/>
        </p:nvSpPr>
        <p:spPr>
          <a:xfrm>
            <a:off x="380250" y="3721850"/>
            <a:ext cx="8383500" cy="4617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t>Shot effectiveness increases with increase in shooter time on ice.</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