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PT Sans Narrow"/>
      <p:regular r:id="rId23"/>
      <p:bold r:id="rId24"/>
    </p:embeddedFont>
    <p:embeddedFont>
      <p:font typeface="Open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48C1E5E-195D-49DC-8D3C-0E8187CD5E7C}">
  <a:tblStyle styleId="{F48C1E5E-195D-49DC-8D3C-0E8187CD5E7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PTSansNarrow-bold.fntdata"/><Relationship Id="rId23" Type="http://schemas.openxmlformats.org/officeDocument/2006/relationships/font" Target="fonts/PTSansNarrow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bold.fntdata"/><Relationship Id="rId25" Type="http://schemas.openxmlformats.org/officeDocument/2006/relationships/font" Target="fonts/OpenSans-regular.fntdata"/><Relationship Id="rId28" Type="http://schemas.openxmlformats.org/officeDocument/2006/relationships/font" Target="fonts/OpenSans-boldItalic.fntdata"/><Relationship Id="rId27" Type="http://schemas.openxmlformats.org/officeDocument/2006/relationships/font" Target="fonts/OpenSans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40277b9a1b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40277b9a1b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01aacdd743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01aacdd743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01aacdd743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01aacdd743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01aacdd743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01aacdd743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01aacdd74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01aacdd74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01aacdd743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01aacdd74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01aacdd74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01aacdd74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01aacdd743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01aacdd743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01aacdd74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01aacdd74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4764c10f6150f9a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4764c10f6150f9a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764c10f6150f9a1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764c10f6150f9a1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67a5801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467a5801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40277b9a1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40277b9a1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67a580126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467a580126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67a580126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467a580126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4764c10f6150f9a1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4764c10f6150f9a1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idx="4294967295" type="ctrTitle"/>
          </p:nvPr>
        </p:nvSpPr>
        <p:spPr>
          <a:xfrm>
            <a:off x="1004150" y="1517850"/>
            <a:ext cx="7136700" cy="105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560"/>
              <a:t>Comparing Human and AI Scoring in Oral Reading Accuracy</a:t>
            </a:r>
            <a:endParaRPr sz="4560"/>
          </a:p>
        </p:txBody>
      </p:sp>
      <p:sp>
        <p:nvSpPr>
          <p:cNvPr id="67" name="Google Shape;67;p13"/>
          <p:cNvSpPr txBox="1"/>
          <p:nvPr>
            <p:ph idx="4294967295" type="subTitle"/>
          </p:nvPr>
        </p:nvSpPr>
        <p:spPr>
          <a:xfrm>
            <a:off x="2137250" y="321568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Christina Vu, advised by Dr. Nelis Potgieter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4"/>
          <p:cNvSpPr txBox="1"/>
          <p:nvPr>
            <p:ph idx="4294967295"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Oral Reading Accuracy?</a:t>
            </a:r>
            <a:endParaRPr/>
          </a:p>
        </p:txBody>
      </p:sp>
      <p:sp>
        <p:nvSpPr>
          <p:cNvPr id="73" name="Google Shape;73;p14"/>
          <p:cNvSpPr txBox="1"/>
          <p:nvPr>
            <p:ph idx="4294967295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Oral Reading Accuracy (ORA) is a measure to assess the ability to pronounce words correctly when reading aloud.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Accurate ORA assessments allow educators to evaluate a student’s ability to comprehend texts — an important skill in language education.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Our research studies the potential of integrating an AI voice recognition system to improve the evaluation process.</a:t>
            </a:r>
            <a:endParaRPr/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81975" y="3314226"/>
            <a:ext cx="1650326" cy="165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ORA is measured?</a:t>
            </a:r>
            <a:endParaRPr/>
          </a:p>
        </p:txBody>
      </p:sp>
      <p:sp>
        <p:nvSpPr>
          <p:cNvPr id="80" name="Google Shape;80;p15"/>
          <p:cNvSpPr txBox="1"/>
          <p:nvPr>
            <p:ph idx="4294967295" type="body"/>
          </p:nvPr>
        </p:nvSpPr>
        <p:spPr>
          <a:xfrm>
            <a:off x="311700" y="1266325"/>
            <a:ext cx="87615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Words Read Correctly (WRC) measures the number of words a student correctly pronounces while reading a passage.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X: true WRC scores by multiple human evaluators.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Y1:  WRC </a:t>
            </a:r>
            <a:r>
              <a:rPr lang="en"/>
              <a:t>scores </a:t>
            </a:r>
            <a:r>
              <a:rPr lang="en"/>
              <a:t>by a human</a:t>
            </a:r>
            <a:r>
              <a:rPr lang="en"/>
              <a:t> evaluator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Y2: WRC </a:t>
            </a:r>
            <a:r>
              <a:rPr lang="en"/>
              <a:t>scores</a:t>
            </a:r>
            <a:r>
              <a:rPr lang="en"/>
              <a:t> by the AI system.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Achieving an accurate true score can be challenging, which highlights the need for an automated system that can assist educators.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675" y="3582800"/>
            <a:ext cx="1491675" cy="149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375" y="740613"/>
            <a:ext cx="5437983" cy="3925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5424725" y="1348025"/>
            <a:ext cx="3310500" cy="45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507 students, each reading one of 10 passages.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Human scores show greater consistency with true scores.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AI scores show an underestimation bias. 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8" name="Google Shape;88;p16"/>
          <p:cNvSpPr txBox="1"/>
          <p:nvPr>
            <p:ph idx="4294967295" type="title"/>
          </p:nvPr>
        </p:nvSpPr>
        <p:spPr>
          <a:xfrm>
            <a:off x="5424725" y="5776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idx="4294967295"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Definition</a:t>
            </a:r>
            <a:endParaRPr/>
          </a:p>
        </p:txBody>
      </p:sp>
      <p:sp>
        <p:nvSpPr>
          <p:cNvPr id="94" name="Google Shape;94;p17"/>
          <p:cNvSpPr txBox="1"/>
          <p:nvPr>
            <p:ph idx="4294967295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passage consisting of N words: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</a:t>
            </a:r>
            <a:r>
              <a:rPr baseline="-25000" lang="en"/>
              <a:t>1𞺴</a:t>
            </a:r>
            <a:r>
              <a:rPr lang="en"/>
              <a:t>∼ Bin(X, π</a:t>
            </a:r>
            <a:r>
              <a:rPr baseline="-25000" lang="en"/>
              <a:t>tp</a:t>
            </a:r>
            <a:r>
              <a:rPr lang="en"/>
              <a:t>): True Positive, </a:t>
            </a:r>
            <a:r>
              <a:rPr lang="en"/>
              <a:t>the number of </a:t>
            </a:r>
            <a:r>
              <a:rPr lang="en"/>
              <a:t>correct words recorded as correct.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X</a:t>
            </a:r>
            <a:r>
              <a:rPr baseline="-25000" lang="en"/>
              <a:t>2 </a:t>
            </a:r>
            <a:r>
              <a:rPr lang="en"/>
              <a:t>∼ Bin(N-X, π</a:t>
            </a:r>
            <a:r>
              <a:rPr baseline="-25000" lang="en"/>
              <a:t>tn</a:t>
            </a:r>
            <a:r>
              <a:rPr lang="en"/>
              <a:t>): False Positive, the number of incorrect words recorded as correct.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Y = X</a:t>
            </a:r>
            <a:r>
              <a:rPr baseline="-25000" lang="en"/>
              <a:t>1 </a:t>
            </a:r>
            <a:r>
              <a:rPr lang="en"/>
              <a:t>+ X</a:t>
            </a:r>
            <a:r>
              <a:rPr baseline="-25000" lang="en"/>
              <a:t>2</a:t>
            </a:r>
            <a:r>
              <a:rPr lang="en"/>
              <a:t>: the number of words recorded as correct.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1: </a:t>
            </a:r>
            <a:r>
              <a:rPr lang="en"/>
              <a:t>Method of Moments (MOM)</a:t>
            </a:r>
            <a:endParaRPr/>
          </a:p>
        </p:txBody>
      </p:sp>
      <p:sp>
        <p:nvSpPr>
          <p:cNvPr id="100" name="Google Shape;100;p18"/>
          <p:cNvSpPr txBox="1"/>
          <p:nvPr>
            <p:ph idx="4294967295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</a:t>
            </a:r>
            <a:r>
              <a:rPr lang="en"/>
              <a:t>the properties of the binomial distribution and moment relationships, we find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E[Y] = μ</a:t>
            </a:r>
            <a:r>
              <a:rPr baseline="-25000" lang="en"/>
              <a:t>x </a:t>
            </a:r>
            <a:r>
              <a:rPr lang="en"/>
              <a:t>· π</a:t>
            </a:r>
            <a:r>
              <a:rPr baseline="-25000" lang="en"/>
              <a:t>tp </a:t>
            </a:r>
            <a:r>
              <a:rPr lang="en"/>
              <a:t>+ (N − μ</a:t>
            </a:r>
            <a:r>
              <a:rPr baseline="-25000" lang="en"/>
              <a:t>x</a:t>
            </a:r>
            <a:r>
              <a:rPr lang="en"/>
              <a:t>) · (1 − π</a:t>
            </a:r>
            <a:r>
              <a:rPr baseline="-25000" lang="en"/>
              <a:t>tn</a:t>
            </a:r>
            <a:r>
              <a:rPr lang="en"/>
              <a:t>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Cov[XY] = (</a:t>
            </a:r>
            <a:r>
              <a:rPr lang="en"/>
              <a:t>σ</a:t>
            </a:r>
            <a:r>
              <a:rPr baseline="-25000" lang="en"/>
              <a:t>x</a:t>
            </a:r>
            <a:r>
              <a:rPr baseline="30000" lang="en"/>
              <a:t>2  </a:t>
            </a:r>
            <a:r>
              <a:rPr lang="en"/>
              <a:t>+ μ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) · (π</a:t>
            </a:r>
            <a:r>
              <a:rPr baseline="-25000" lang="en"/>
              <a:t>tp </a:t>
            </a:r>
            <a:r>
              <a:rPr lang="en"/>
              <a:t>− π</a:t>
            </a:r>
            <a:r>
              <a:rPr baseline="-25000" lang="en" sz="1700"/>
              <a:t>tn </a:t>
            </a:r>
            <a:r>
              <a:rPr lang="en"/>
              <a:t>+ 1) + (N · μ</a:t>
            </a:r>
            <a:r>
              <a:rPr baseline="-25000" lang="en"/>
              <a:t>x</a:t>
            </a:r>
            <a:r>
              <a:rPr lang="en"/>
              <a:t>) · (1 − π</a:t>
            </a:r>
            <a:r>
              <a:rPr baseline="-25000" lang="en"/>
              <a:t>tn</a:t>
            </a:r>
            <a:r>
              <a:rPr lang="en"/>
              <a:t>) − μ</a:t>
            </a:r>
            <a:r>
              <a:rPr baseline="-25000" lang="en"/>
              <a:t>x </a:t>
            </a:r>
            <a:r>
              <a:rPr lang="en"/>
              <a:t>· μ</a:t>
            </a:r>
            <a:r>
              <a:rPr baseline="-25000" lang="en" sz="1700"/>
              <a:t>y</a:t>
            </a:r>
            <a:endParaRPr baseline="-25000"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From </a:t>
            </a:r>
            <a:r>
              <a:rPr lang="en"/>
              <a:t>the Method of Moments where  ˆ</a:t>
            </a:r>
            <a:r>
              <a:rPr lang="en"/>
              <a:t>μ</a:t>
            </a:r>
            <a:r>
              <a:rPr baseline="-25000" lang="en"/>
              <a:t>x </a:t>
            </a:r>
            <a:r>
              <a:rPr lang="en"/>
              <a:t>¯x, ˆσ</a:t>
            </a:r>
            <a:r>
              <a:rPr baseline="-25000" lang="en"/>
              <a:t>xy </a:t>
            </a:r>
            <a:r>
              <a:rPr lang="en"/>
              <a:t>= s</a:t>
            </a:r>
            <a:r>
              <a:rPr baseline="-25000" lang="en"/>
              <a:t>xy</a:t>
            </a:r>
            <a:r>
              <a:rPr lang="en"/>
              <a:t>, we derive estimators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ˆπ</a:t>
            </a:r>
            <a:r>
              <a:rPr baseline="-25000" lang="en"/>
              <a:t>tn </a:t>
            </a:r>
            <a:r>
              <a:rPr lang="en"/>
              <a:t>= 1 − ¯y N + ¯x N · s</a:t>
            </a:r>
            <a:r>
              <a:rPr baseline="-25000" lang="en"/>
              <a:t>xy </a:t>
            </a:r>
            <a:r>
              <a:rPr lang="en"/>
              <a:t>s</a:t>
            </a:r>
            <a:r>
              <a:rPr baseline="-25000" lang="en"/>
              <a:t>x</a:t>
            </a:r>
            <a:r>
              <a:rPr baseline="30000" lang="en"/>
              <a:t>2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ˆπ</a:t>
            </a:r>
            <a:r>
              <a:rPr baseline="-25000" lang="en"/>
              <a:t>tp </a:t>
            </a:r>
            <a:r>
              <a:rPr lang="en"/>
              <a:t>= s</a:t>
            </a:r>
            <a:r>
              <a:rPr baseline="-25000" lang="en"/>
              <a:t>xy </a:t>
            </a:r>
            <a:r>
              <a:rPr lang="en"/>
              <a:t>s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 + ¯y N − ¯x N · s</a:t>
            </a:r>
            <a:r>
              <a:rPr baseline="-25000" lang="en"/>
              <a:t>xy </a:t>
            </a:r>
            <a:r>
              <a:rPr lang="en"/>
              <a:t>s</a:t>
            </a:r>
            <a:r>
              <a:rPr baseline="-25000" lang="en"/>
              <a:t>x</a:t>
            </a:r>
            <a:r>
              <a:rPr baseline="30000" lang="en"/>
              <a:t>2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5407300" y="1731625"/>
            <a:ext cx="3557100" cy="451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Both Human and AI show an overall strong performance.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Open Sans"/>
                <a:ea typeface="Open Sans"/>
                <a:cs typeface="Open Sans"/>
                <a:sym typeface="Open Sans"/>
              </a:rPr>
              <a:t>However, low True Negative rates suggest concerns of recording incorrect words as being correct too often.</a:t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9"/>
          <p:cNvSpPr txBox="1"/>
          <p:nvPr>
            <p:ph idx="4294967295" type="title"/>
          </p:nvPr>
        </p:nvSpPr>
        <p:spPr>
          <a:xfrm>
            <a:off x="311700" y="216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Estimating True Positive (TP) and True Negative (TN)</a:t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923825"/>
            <a:ext cx="5030175" cy="4136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idx="4294967295" type="title"/>
          </p:nvPr>
        </p:nvSpPr>
        <p:spPr>
          <a:xfrm>
            <a:off x="311700" y="2021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Simulation Study</a:t>
            </a:r>
            <a:endParaRPr/>
          </a:p>
        </p:txBody>
      </p:sp>
      <p:sp>
        <p:nvSpPr>
          <p:cNvPr id="113" name="Google Shape;113;p20"/>
          <p:cNvSpPr txBox="1"/>
          <p:nvPr>
            <p:ph idx="4294967295" type="body"/>
          </p:nvPr>
        </p:nvSpPr>
        <p:spPr>
          <a:xfrm>
            <a:off x="311700" y="980975"/>
            <a:ext cx="8520600" cy="408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Setup:</a:t>
            </a:r>
            <a:endParaRPr sz="1500"/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Generate data using beta-binomial distribution with parameters: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p: </a:t>
            </a:r>
            <a:r>
              <a:rPr lang="en" sz="1500"/>
              <a:t>Probability of success (0.96, 0.98)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ρ: </a:t>
            </a:r>
            <a:r>
              <a:rPr lang="en" sz="1500"/>
              <a:t>Overdispersion degree (0.01, 0.06)</a:t>
            </a:r>
            <a:endParaRPr sz="1500"/>
          </a:p>
          <a:p>
            <a:pPr indent="-316706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1500"/>
              <a:t>N: Number of words (44, 69)</a:t>
            </a:r>
            <a:endParaRPr sz="1500"/>
          </a:p>
          <a:p>
            <a:pPr indent="-316706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Simulate using combinations of (N,p,ρ).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/>
              <a:t>Standard error (SE) estimations using Delta, ordinary Bootstrap, and m-out-of-n Bootstrap method.</a:t>
            </a:r>
            <a:endParaRPr sz="1500"/>
          </a:p>
          <a:p>
            <a:pPr indent="-316706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1500"/>
              <a:t>Average Monte Carlo SE ratios: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/>
              <a:t>The m-out-of-n Bootstrap is the most reliable method for unbiased estimations.</a:t>
            </a:r>
            <a:endParaRPr sz="1500"/>
          </a:p>
        </p:txBody>
      </p:sp>
      <p:graphicFrame>
        <p:nvGraphicFramePr>
          <p:cNvPr id="114" name="Google Shape;114;p20"/>
          <p:cNvGraphicFramePr/>
          <p:nvPr/>
        </p:nvGraphicFramePr>
        <p:xfrm>
          <a:off x="850125" y="3288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{F48C1E5E-195D-49DC-8D3C-0E8187CD5E7C}</a:tableStyleId>
              </a:tblPr>
              <a:tblGrid>
                <a:gridCol w="1206500"/>
                <a:gridCol w="1206500"/>
                <a:gridCol w="1206500"/>
                <a:gridCol w="1206500"/>
                <a:gridCol w="1206500"/>
                <a:gridCol w="120650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Delta</a:t>
                      </a:r>
                      <a:endParaRPr sz="1350"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Ordinary </a:t>
                      </a: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Bootstrap</a:t>
                      </a:r>
                      <a:endParaRPr sz="1350"/>
                    </a:p>
                  </a:txBody>
                  <a:tcPr marT="91425" marB="91425" marR="91425" marL="91425"/>
                </a:tc>
                <a:tc hMerge="1"/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m-out-of-n Bootstrap</a:t>
                      </a:r>
                      <a:endParaRPr sz="1350"/>
                    </a:p>
                  </a:txBody>
                  <a:tcPr marT="91425" marB="91425" marR="91425" marL="91425"/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TN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TN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TP</a:t>
                      </a:r>
                      <a:endParaRPr sz="135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TN</a:t>
                      </a:r>
                      <a:endParaRPr sz="135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0.957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0.468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0.962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0.890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0.963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350">
                          <a:solidFill>
                            <a:schemeClr val="dk2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0.958</a:t>
                      </a:r>
                      <a:endParaRPr sz="1350">
                        <a:solidFill>
                          <a:schemeClr val="dk2"/>
                        </a:solidFill>
                        <a:latin typeface="Open Sans"/>
                        <a:ea typeface="Open Sans"/>
                        <a:cs typeface="Open Sans"/>
                        <a:sym typeface="Open Sans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Estimating </a:t>
            </a:r>
            <a:r>
              <a:rPr lang="en"/>
              <a:t>Standard Errors</a:t>
            </a:r>
            <a:endParaRPr/>
          </a:p>
        </p:txBody>
      </p:sp>
      <p:sp>
        <p:nvSpPr>
          <p:cNvPr id="120" name="Google Shape;120;p21"/>
          <p:cNvSpPr txBox="1"/>
          <p:nvPr>
            <p:ph idx="4294967295" type="body"/>
          </p:nvPr>
        </p:nvSpPr>
        <p:spPr>
          <a:xfrm>
            <a:off x="5111400" y="4181700"/>
            <a:ext cx="37209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400"/>
              <a:t>True Negatives of AI have the highest standard errors, suggest AI has issues identifying incorrect words.</a:t>
            </a:r>
            <a:endParaRPr sz="1400"/>
          </a:p>
        </p:txBody>
      </p:sp>
      <p:sp>
        <p:nvSpPr>
          <p:cNvPr id="121" name="Google Shape;121;p21"/>
          <p:cNvSpPr txBox="1"/>
          <p:nvPr/>
        </p:nvSpPr>
        <p:spPr>
          <a:xfrm>
            <a:off x="417025" y="4181700"/>
            <a:ext cx="3977100" cy="8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Low standard errors of True Positives show both Human and AI are consistent with correct words.</a:t>
            </a:r>
            <a:endParaRPr sz="1300"/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9450" y="1258155"/>
            <a:ext cx="4464550" cy="2809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700" y="1253962"/>
            <a:ext cx="4547749" cy="28617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21"/>
          <p:cNvSpPr txBox="1"/>
          <p:nvPr/>
        </p:nvSpPr>
        <p:spPr>
          <a:xfrm>
            <a:off x="344775" y="620925"/>
            <a:ext cx="397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using m-out-of-n Bootstrap method.</a:t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2783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2: Generalized Method of Moments (GMM) </a:t>
            </a:r>
            <a:endParaRPr/>
          </a:p>
        </p:txBody>
      </p:sp>
      <p:sp>
        <p:nvSpPr>
          <p:cNvPr id="130" name="Google Shape;130;p22"/>
          <p:cNvSpPr txBox="1"/>
          <p:nvPr>
            <p:ph idx="4294967295" type="body"/>
          </p:nvPr>
        </p:nvSpPr>
        <p:spPr>
          <a:xfrm>
            <a:off x="311700" y="1063925"/>
            <a:ext cx="8520600" cy="38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</a:t>
            </a:r>
            <a:r>
              <a:rPr lang="en"/>
              <a:t>olution 1, we use sample statistics  ¯X, ¯Y , </a:t>
            </a:r>
            <a:r>
              <a:rPr lang="en"/>
              <a:t>s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, </a:t>
            </a:r>
            <a:r>
              <a:rPr lang="en"/>
              <a:t>s</a:t>
            </a:r>
            <a:r>
              <a:rPr baseline="-25000" lang="en"/>
              <a:t>xy</a:t>
            </a:r>
            <a:r>
              <a:rPr lang="en"/>
              <a:t>. Solution 2 will incorporate </a:t>
            </a:r>
            <a:r>
              <a:rPr lang="en"/>
              <a:t>s</a:t>
            </a:r>
            <a:r>
              <a:rPr baseline="-25000" lang="en"/>
              <a:t>y</a:t>
            </a:r>
            <a:r>
              <a:rPr baseline="30000" lang="en"/>
              <a:t>2</a:t>
            </a:r>
            <a:r>
              <a:rPr lang="en"/>
              <a:t> 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Define parameter vector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</a:t>
            </a:r>
            <a:r>
              <a:rPr lang="en"/>
              <a:t>θ = (μ</a:t>
            </a:r>
            <a:r>
              <a:rPr baseline="-25000" lang="en"/>
              <a:t>x​</a:t>
            </a:r>
            <a:r>
              <a:rPr lang="en"/>
              <a:t>,σ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​,π</a:t>
            </a:r>
            <a:r>
              <a:rPr baseline="-25000" lang="en"/>
              <a:t>tp​</a:t>
            </a:r>
            <a:r>
              <a:rPr lang="en"/>
              <a:t>,π</a:t>
            </a:r>
            <a:r>
              <a:rPr baseline="-25000" lang="en"/>
              <a:t>tn​</a:t>
            </a:r>
            <a:r>
              <a:rPr lang="en"/>
              <a:t>)</a:t>
            </a:r>
            <a:r>
              <a:rPr baseline="30000" lang="en"/>
              <a:t>⊤  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sample moment </a:t>
            </a:r>
            <a:r>
              <a:rPr lang="en"/>
              <a:t>vector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ˆm = ( ¯x, s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, ¯y , s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, s</a:t>
            </a:r>
            <a:r>
              <a:rPr baseline="-25000" lang="en"/>
              <a:t>xy</a:t>
            </a:r>
            <a:r>
              <a:rPr lang="en"/>
              <a:t>) </a:t>
            </a:r>
            <a:endParaRPr baseline="30000"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population moment vector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m(θ) = ​(μ</a:t>
            </a:r>
            <a:r>
              <a:rPr baseline="-25000" lang="en"/>
              <a:t>x​</a:t>
            </a:r>
            <a:r>
              <a:rPr lang="en"/>
              <a:t>(θ), x</a:t>
            </a:r>
            <a:r>
              <a:rPr baseline="30000" lang="en"/>
              <a:t>2​</a:t>
            </a:r>
            <a:r>
              <a:rPr lang="en"/>
              <a:t>(θ), μ</a:t>
            </a:r>
            <a:r>
              <a:rPr baseline="-25000" lang="en"/>
              <a:t>y​</a:t>
            </a:r>
            <a:r>
              <a:rPr lang="en"/>
              <a:t>(θ), σ</a:t>
            </a:r>
            <a:r>
              <a:rPr baseline="-25000" lang="en"/>
              <a:t>x</a:t>
            </a:r>
            <a:r>
              <a:rPr baseline="30000" lang="en"/>
              <a:t>2</a:t>
            </a:r>
            <a:r>
              <a:rPr lang="en"/>
              <a:t>​(θ), σ</a:t>
            </a:r>
            <a:r>
              <a:rPr baseline="-25000" lang="en"/>
              <a:t>xy​</a:t>
            </a:r>
            <a:r>
              <a:rPr lang="en"/>
              <a:t>(θ))</a:t>
            </a:r>
            <a:r>
              <a:rPr baseline="30000" lang="en"/>
              <a:t>T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m</a:t>
            </a:r>
            <a:r>
              <a:rPr lang="en"/>
              <a:t>inimize the distance:</a:t>
            </a:r>
            <a:endParaRPr/>
          </a:p>
          <a:p>
            <a:pPr indent="457200" lvl="0" marL="9144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</a:t>
            </a:r>
            <a:r>
              <a:rPr baseline="-25000" lang="en"/>
              <a:t>n​</a:t>
            </a:r>
            <a:r>
              <a:rPr lang="en"/>
              <a:t>(θ)=(m(θ)−m^)</a:t>
            </a:r>
            <a:r>
              <a:rPr baseline="30000" lang="en"/>
              <a:t>⊤ </a:t>
            </a:r>
            <a:r>
              <a:rPr lang="en"/>
              <a:t>Σ</a:t>
            </a:r>
            <a:r>
              <a:rPr baseline="-25000" lang="en"/>
              <a:t>n</a:t>
            </a:r>
            <a:r>
              <a:rPr baseline="30000" lang="en"/>
              <a:t>-1 </a:t>
            </a:r>
            <a:r>
              <a:rPr lang="en"/>
              <a:t>​(m(θ)−m^)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idx="4294967295" type="title"/>
          </p:nvPr>
        </p:nvSpPr>
        <p:spPr>
          <a:xfrm>
            <a:off x="311700" y="91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Comparing MOM and GMM Approach </a:t>
            </a:r>
            <a:endParaRPr/>
          </a:p>
        </p:txBody>
      </p:sp>
      <p:sp>
        <p:nvSpPr>
          <p:cNvPr id="136" name="Google Shape;136;p23"/>
          <p:cNvSpPr txBox="1"/>
          <p:nvPr>
            <p:ph idx="4294967295" type="body"/>
          </p:nvPr>
        </p:nvSpPr>
        <p:spPr>
          <a:xfrm>
            <a:off x="5183825" y="1130275"/>
            <a:ext cx="3720900" cy="385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MOM and GMM are consistent for True Positive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True Negative values show some variation, particularly for AI.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From </a:t>
            </a:r>
            <a:r>
              <a:rPr lang="en"/>
              <a:t>the m-out-of-n Bootstrap method, we find that MOM has lower standard errors on average.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125" y="1034975"/>
            <a:ext cx="4683428" cy="385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idx="4294967295" type="title"/>
          </p:nvPr>
        </p:nvSpPr>
        <p:spPr>
          <a:xfrm>
            <a:off x="311700" y="914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Contaminated Data Solution</a:t>
            </a:r>
            <a:endParaRPr/>
          </a:p>
        </p:txBody>
      </p:sp>
      <p:sp>
        <p:nvSpPr>
          <p:cNvPr id="143" name="Google Shape;143;p24"/>
          <p:cNvSpPr txBox="1"/>
          <p:nvPr>
            <p:ph idx="4294967295" type="body"/>
          </p:nvPr>
        </p:nvSpPr>
        <p:spPr>
          <a:xfrm>
            <a:off x="305250" y="798825"/>
            <a:ext cx="88389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real-world scenarios where true counts X are unavailable, this </a:t>
            </a:r>
            <a:r>
              <a:rPr lang="en"/>
              <a:t>solution</a:t>
            </a:r>
            <a:r>
              <a:rPr lang="en"/>
              <a:t> estimate parameters from only contaminated data Y.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 account for the absence of true scores, we assume that X follows a Beta-Binomial distribution with parameters: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N: total count / passage length.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p: </a:t>
            </a:r>
            <a:r>
              <a:rPr lang="en"/>
              <a:t>average success probability.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ρ: intra-class correlation controlling over-dispersion relative to the binomial.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idx="4294967295" type="title"/>
          </p:nvPr>
        </p:nvSpPr>
        <p:spPr>
          <a:xfrm>
            <a:off x="311700" y="35785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GMM for Contaminated Data Solution</a:t>
            </a:r>
            <a:endParaRPr/>
          </a:p>
        </p:txBody>
      </p:sp>
      <p:sp>
        <p:nvSpPr>
          <p:cNvPr id="149" name="Google Shape;149;p25"/>
          <p:cNvSpPr txBox="1"/>
          <p:nvPr>
            <p:ph idx="4294967295" type="body"/>
          </p:nvPr>
        </p:nvSpPr>
        <p:spPr>
          <a:xfrm>
            <a:off x="311700" y="1266325"/>
            <a:ext cx="9144000" cy="36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apply GMM with parameter vector</a:t>
            </a:r>
            <a:endParaRPr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			θ = (πtp, πtn, px, ρ)</a:t>
            </a:r>
            <a:r>
              <a:rPr baseline="30000" lang="en"/>
              <a:t> 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mean</a:t>
            </a:r>
            <a:endParaRPr/>
          </a:p>
          <a:p>
            <a:pPr indent="45720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μy = μx · πtp + (Nj − μx) · (1 − πtn)</a:t>
            </a:r>
            <a:endParaRPr baseline="30000"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variance</a:t>
            </a:r>
            <a:endParaRPr/>
          </a:p>
          <a:p>
            <a:pPr indent="45720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σ2y = μx · (πtp + πtn − 1) · (πtn − πtp) + σ2x · (πtp + πtn − 1)2 + Nj · (1 − πtn) · πtn</a:t>
            </a:r>
            <a:endParaRPr/>
          </a:p>
          <a:p>
            <a:pPr indent="-3429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covariance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>
            <p:ph idx="4294967295" type="title"/>
          </p:nvPr>
        </p:nvSpPr>
        <p:spPr>
          <a:xfrm>
            <a:off x="311700" y="2438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</a:t>
            </a:r>
            <a:r>
              <a:rPr lang="en"/>
              <a:t>ptimization Process</a:t>
            </a:r>
            <a:endParaRPr/>
          </a:p>
        </p:txBody>
      </p:sp>
      <p:sp>
        <p:nvSpPr>
          <p:cNvPr id="155" name="Google Shape;155;p26"/>
          <p:cNvSpPr txBox="1"/>
          <p:nvPr>
            <p:ph idx="4294967295" type="body"/>
          </p:nvPr>
        </p:nvSpPr>
        <p:spPr>
          <a:xfrm>
            <a:off x="311700" y="949300"/>
            <a:ext cx="4645800" cy="391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r>
              <a:rPr lang="en"/>
              <a:t>e introduce the penalty function to constrain θ: </a:t>
            </a:r>
            <a:endParaRPr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H(θ, X) = D(θ, X) + λ · Pen(θ)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where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D(θ, X) is the GMM distance function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Pen(θ)= −x∈θ∑​log(x(1−x))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</a:t>
            </a:r>
            <a:r>
              <a:rPr lang="en"/>
              <a:t>o choose the penalty parameter, we a</a:t>
            </a:r>
            <a:r>
              <a:rPr lang="en"/>
              <a:t>pply 5-fold cross-validation by optimizing each fold while using the remaining folds for validation.</a:t>
            </a:r>
            <a:endParaRPr/>
          </a:p>
        </p:txBody>
      </p:sp>
      <p:pic>
        <p:nvPicPr>
          <p:cNvPr id="156" name="Google Shape;1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6875" y="244938"/>
            <a:ext cx="3344234" cy="465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7"/>
          <p:cNvPicPr preferRelativeResize="0"/>
          <p:nvPr/>
        </p:nvPicPr>
        <p:blipFill rotWithShape="1">
          <a:blip r:embed="rId3">
            <a:alphaModFix/>
          </a:blip>
          <a:srcRect b="0" l="2334" r="0" t="0"/>
          <a:stretch/>
        </p:blipFill>
        <p:spPr>
          <a:xfrm>
            <a:off x="110425" y="317100"/>
            <a:ext cx="5753751" cy="450929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7"/>
          <p:cNvSpPr txBox="1"/>
          <p:nvPr>
            <p:ph idx="4294967295" type="body"/>
          </p:nvPr>
        </p:nvSpPr>
        <p:spPr>
          <a:xfrm>
            <a:off x="-1281562" y="4704350"/>
            <a:ext cx="8359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SzPts val="440"/>
              <a:buNone/>
            </a:pPr>
            <a:r>
              <a:rPr lang="en" sz="1520"/>
              <a:t>(ˆπtp1, ˆπtn1, ˆπtp2, ˆπtn2) = (0.9833, 0.8725, 0.9673, 0.7565)</a:t>
            </a:r>
            <a:endParaRPr sz="1520"/>
          </a:p>
        </p:txBody>
      </p:sp>
      <p:sp>
        <p:nvSpPr>
          <p:cNvPr id="163" name="Google Shape;163;p27"/>
          <p:cNvSpPr txBox="1"/>
          <p:nvPr/>
        </p:nvSpPr>
        <p:spPr>
          <a:xfrm>
            <a:off x="182475" y="73500"/>
            <a:ext cx="4934400" cy="243600"/>
          </a:xfrm>
          <a:prstGeom prst="rect">
            <a:avLst/>
          </a:prstGeom>
          <a:noFill/>
          <a:ln>
            <a:noFill/>
          </a:ln>
          <a:effectLst>
            <a:outerShdw rotWithShape="0" algn="bl">
              <a:srgbClr val="000000">
                <a:alpha val="0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</a:rPr>
              <a:t>Optimal function by ρ for Human and AI</a:t>
            </a:r>
            <a:endParaRPr sz="1200">
              <a:solidFill>
                <a:srgbClr val="434343"/>
              </a:solidFill>
            </a:endParaRPr>
          </a:p>
        </p:txBody>
      </p:sp>
      <p:sp>
        <p:nvSpPr>
          <p:cNvPr id="164" name="Google Shape;164;p27"/>
          <p:cNvSpPr txBox="1"/>
          <p:nvPr>
            <p:ph idx="4294967295" type="title"/>
          </p:nvPr>
        </p:nvSpPr>
        <p:spPr>
          <a:xfrm>
            <a:off x="5766025" y="317100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Optimization Result </a:t>
            </a:r>
            <a:endParaRPr/>
          </a:p>
        </p:txBody>
      </p:sp>
      <p:sp>
        <p:nvSpPr>
          <p:cNvPr id="165" name="Google Shape;165;p27"/>
          <p:cNvSpPr txBox="1"/>
          <p:nvPr>
            <p:ph idx="4294967295" type="subTitle"/>
          </p:nvPr>
        </p:nvSpPr>
        <p:spPr>
          <a:xfrm>
            <a:off x="5682000" y="1014300"/>
            <a:ext cx="3538200" cy="381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ρ=0 minimizes the objective function.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Human performs better than AI.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Both Human and AI perform well at identifying correctly read </a:t>
            </a:r>
            <a:r>
              <a:rPr lang="en"/>
              <a:t>words but struggle more with incorrectly words.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idx="4294967295" type="title"/>
          </p:nvPr>
        </p:nvSpPr>
        <p:spPr>
          <a:xfrm>
            <a:off x="178825" y="201700"/>
            <a:ext cx="4045200" cy="167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71" name="Google Shape;171;p28"/>
          <p:cNvSpPr txBox="1"/>
          <p:nvPr>
            <p:ph idx="4294967295" type="subTitle"/>
          </p:nvPr>
        </p:nvSpPr>
        <p:spPr>
          <a:xfrm>
            <a:off x="251050" y="2110250"/>
            <a:ext cx="4045200" cy="221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We explored different methods to estimate accuracy.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Results consistently show that Human outperforms AI.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Both Human and AI slightly struggle with misclassifications</a:t>
            </a:r>
            <a:endParaRPr sz="1800"/>
          </a:p>
        </p:txBody>
      </p:sp>
      <p:sp>
        <p:nvSpPr>
          <p:cNvPr id="172" name="Google Shape;172;p28"/>
          <p:cNvSpPr txBox="1"/>
          <p:nvPr>
            <p:ph idx="4294967295" type="body"/>
          </p:nvPr>
        </p:nvSpPr>
        <p:spPr>
          <a:xfrm>
            <a:off x="4829325" y="744600"/>
            <a:ext cx="3985200" cy="3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-100584" lvl="0" marL="10058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DiSalle, K. and Rasinski, T. (2017). Impact of short-term intense fluency instruction on students’ reading achievement: A classroom-based, teacher-initiated research study. Journal of Teacher Action Research, 3(2):1–13.</a:t>
            </a:r>
            <a:endParaRPr/>
          </a:p>
          <a:p>
            <a:pPr indent="-100584" lvl="0" marL="100584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0584" lvl="0" marL="10058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Rosner, B. (2014). Beta-Binomial Distribution. John Wiley Sons, Ltd.</a:t>
            </a:r>
            <a:endParaRPr/>
          </a:p>
          <a:p>
            <a:pPr indent="-100584" lvl="0" marL="100584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0584" lvl="0" marL="100584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Ross, S. M. (2022). Simulation. academic press.</a:t>
            </a:r>
            <a:endParaRPr/>
          </a:p>
          <a:p>
            <a:pPr indent="-100584" lvl="0" marL="100584" rtl="0" algn="l">
              <a:lnSpc>
                <a:spcPct val="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100584" lvl="0" marL="100584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Tibshirani, R. J. and Efron, B. (1993). An introduction to the bootstrap. Monographs on statistics and applied probability, 57(1):1–436.</a:t>
            </a:r>
            <a:endParaRPr/>
          </a:p>
        </p:txBody>
      </p:sp>
      <p:sp>
        <p:nvSpPr>
          <p:cNvPr id="173" name="Google Shape;173;p28"/>
          <p:cNvSpPr txBox="1"/>
          <p:nvPr>
            <p:ph idx="4294967295" type="title"/>
          </p:nvPr>
        </p:nvSpPr>
        <p:spPr>
          <a:xfrm>
            <a:off x="4930925" y="112800"/>
            <a:ext cx="4045200" cy="74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Reference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